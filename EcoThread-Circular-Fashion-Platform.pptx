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 SemiBold"/>
      <p:regular r:id="rId201314"/>
    </p:embeddedFont>
    <p:embeddedFont>
      <p:font typeface="Bitter"/>
      <p:regular r:id="rId201315"/>
    </p:embeddedFont>
    <p:embeddedFont>
      <p:font typeface="Bitter Bold"/>
      <p:regular r:id="rId201316"/>
    </p:embeddedFont>
    <p:embeddedFont>
      <p:font typeface="Outfit Medium"/>
      <p:regular r:id="rId201317"/>
    </p:embeddedFont>
    <p:embeddedFont>
      <p:font typeface="Outfi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F2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30" y="660400"/>
            <a:ext cx="3925293" cy="378321"/>
          </a:xfrm>
          <a:prstGeom prst="roundRect">
            <a:avLst>
              <a:gd name="adj" fmla="val 3021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930847" y="738485"/>
            <a:ext cx="4260644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115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🌱</a:t>
            </a:r>
            <a:pPr algn="l" indent="0" marL="0">
              <a:lnSpc>
                <a:spcPct val="104000"/>
              </a:lnSpc>
              <a:buNone/>
            </a:pPr>
            <a:r>
              <a:rPr lang="en-US" sz="1450" spc="115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  SUSTAINABLE CIRCULAR FASHION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93730" y="1400873"/>
            <a:ext cx="6997525" cy="1023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600" b="1" spc="-114" kern="10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EcoThread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793730" y="2548620"/>
            <a:ext cx="6997525" cy="71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Sustainable Circular Fashion &amp; Dignified NGO Clothing Redistribution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30" y="3432731"/>
            <a:ext cx="6997525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Connecting mindful donors, real-time logistics, hospital-grade QC grading, and an Amazon-style tokenized beneficiary store.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93730" y="5105400"/>
            <a:ext cx="2346266" cy="1926828"/>
          </a:xfrm>
          <a:prstGeom prst="rect">
            <a:avLst/>
          </a:prstGeom>
          <a:solidFill>
            <a:srgbClr val="2D2F28"/>
          </a:solidFill>
          <a:ln/>
        </p:spPr>
      </p:sp>
      <p:sp>
        <p:nvSpPr>
          <p:cNvPr id="8" name="Text 6"/>
          <p:cNvSpPr/>
          <p:nvPr/>
        </p:nvSpPr>
        <p:spPr>
          <a:xfrm>
            <a:off x="1022324" y="5370350"/>
            <a:ext cx="1889078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b="1" spc="-48" kern="100" dirty="0">
                <a:solidFill>
                  <a:srgbClr val="9FA582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70.73 lakh 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22324" y="6428939"/>
            <a:ext cx="1889078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Textile waste per year in India (PIB)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44789" y="5105400"/>
            <a:ext cx="2346266" cy="1926828"/>
          </a:xfrm>
          <a:prstGeom prst="rect">
            <a:avLst/>
          </a:prstGeom>
          <a:solidFill>
            <a:srgbClr val="2D2F28"/>
          </a:solidFill>
          <a:ln/>
        </p:spPr>
      </p:sp>
      <p:sp>
        <p:nvSpPr>
          <p:cNvPr id="11" name="Text 9"/>
          <p:cNvSpPr/>
          <p:nvPr/>
        </p:nvSpPr>
        <p:spPr>
          <a:xfrm>
            <a:off x="3673383" y="5370350"/>
            <a:ext cx="1889078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b="1" spc="-48" kern="100" dirty="0">
                <a:solidFill>
                  <a:srgbClr val="9FA582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USD 3.5 bn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73383" y="6428939"/>
            <a:ext cx="1889078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Recycling market by 2030 (Ministry of Textiles)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5848" y="5105400"/>
            <a:ext cx="2346266" cy="1926828"/>
          </a:xfrm>
          <a:prstGeom prst="rect">
            <a:avLst/>
          </a:prstGeom>
          <a:solidFill>
            <a:srgbClr val="2D2F28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5388278"/>
            <a:ext cx="1889078" cy="64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b="1" spc="-72" kern="100" dirty="0">
                <a:solidFill>
                  <a:srgbClr val="9FA582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100%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324442" y="6213634"/>
            <a:ext cx="1889078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Tax-exempt under Section 80G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46906" y="5105400"/>
            <a:ext cx="2346266" cy="1926828"/>
          </a:xfrm>
          <a:prstGeom prst="rect">
            <a:avLst/>
          </a:prstGeom>
          <a:solidFill>
            <a:srgbClr val="2D2F28"/>
          </a:solidFill>
          <a:ln/>
        </p:spPr>
      </p:sp>
      <p:sp>
        <p:nvSpPr>
          <p:cNvPr id="17" name="Text 15"/>
          <p:cNvSpPr/>
          <p:nvPr/>
        </p:nvSpPr>
        <p:spPr>
          <a:xfrm>
            <a:off x="8975500" y="5334000"/>
            <a:ext cx="1889078" cy="70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SDG 12 · 1 · 13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UN Global Goals Framework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7680827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THE CRISIS IN NUMBERS · PEER-REVIEWED RESEARCH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2196"/>
            <a:ext cx="7147441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Textile Landfill Saturation &amp; Clothing Poverty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3387" y="1951315"/>
            <a:ext cx="334507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70.73 lakh tonnes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33387" y="2440821"/>
            <a:ext cx="3345076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India generates about 70.73 lakh tonnes of textile waste annually (Ministry of Textiles, PIB).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35652" y="1951315"/>
            <a:ext cx="334517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42% / 58%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35652" y="2440821"/>
            <a:ext cx="334517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Pre-consumer manufacturing waste (42%) and post-consumer disposal (58%) make up India’s textile waste (PIB, Ministry of Textiles).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387" y="3904337"/>
            <a:ext cx="334507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&gt;70% recovered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3387" y="4393843"/>
            <a:ext cx="334507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More than 70% of total textile waste is recovered, and around 95% of pre-consumer textile waste (PIB Rajya Sabha response).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35652" y="3904337"/>
            <a:ext cx="334517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Broken pipelines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35652" y="4393843"/>
            <a:ext cx="3345176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Zero donor transparency &amp; sanitation: conventional charity bins suffer 60%+ sorting rejection, unhygienic storage, high logistics costs, and fail to issue verifiable 80G tax receipts.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3387" y="6110645"/>
            <a:ext cx="714744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9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Sources: PIB, Ministry of Textiles report on textile recycling · PIB Rajya Sabha response on textile-waste management · Ministry of Textiles Annual Report 2023-24.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1303" y="0"/>
            <a:ext cx="3520392" cy="693539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100708" y="1946870"/>
            <a:ext cx="12700" cy="1724422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33387" y="3664942"/>
            <a:ext cx="3573671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100708" y="3671292"/>
            <a:ext cx="12700" cy="2227263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107057" y="3664942"/>
            <a:ext cx="3573770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8610385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END-TO-END CIRCULAR LIFECYCLE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2196"/>
            <a:ext cx="8076998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One operating loop moves garments from doorstep to dignified choice.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3387" y="1946870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3387" y="2266950"/>
            <a:ext cx="2615936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2382520"/>
            <a:ext cx="261603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Doorstep Pickup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3387" y="2868978"/>
            <a:ext cx="2616035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Donor selects slot, bag count, garment types; fleet manifests auto-sync.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01818" y="1946870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01818" y="2266950"/>
            <a:ext cx="2565237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0" name="Text 8"/>
          <p:cNvSpPr/>
          <p:nvPr/>
        </p:nvSpPr>
        <p:spPr>
          <a:xfrm>
            <a:off x="3301818" y="2382520"/>
            <a:ext cx="256533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Route Dispatch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01818" y="2868978"/>
            <a:ext cx="2565336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Driver navigates pincode cluster; verifies bags and weights on doorstep.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19550" y="1946870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19550" y="2266950"/>
            <a:ext cx="2590735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4" name="Text 12"/>
          <p:cNvSpPr/>
          <p:nvPr/>
        </p:nvSpPr>
        <p:spPr>
          <a:xfrm>
            <a:off x="6019550" y="2382520"/>
            <a:ext cx="259073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QC &amp; Sanitization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19550" y="2868978"/>
            <a:ext cx="2590735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3-stage UV-C sterilization; scientific grading: Grade A, B, or Downcycling.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3387" y="4227513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3387" y="4547592"/>
            <a:ext cx="2615936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8" name="Text 16"/>
          <p:cNvSpPr/>
          <p:nvPr/>
        </p:nvSpPr>
        <p:spPr>
          <a:xfrm>
            <a:off x="533387" y="4663162"/>
            <a:ext cx="261603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Beneficiary Store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3387" y="5149620"/>
            <a:ext cx="2616035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Amazon-style catalog; beneficiaries checkout with seasonal NGO welfare credits.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01818" y="4227513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01818" y="4547592"/>
            <a:ext cx="5308368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2" name="Text 20"/>
          <p:cNvSpPr/>
          <p:nvPr/>
        </p:nvSpPr>
        <p:spPr>
          <a:xfrm>
            <a:off x="3301818" y="4663162"/>
            <a:ext cx="530846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80G Tax Exemption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01818" y="5149620"/>
            <a:ext cx="5308467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Instant downloadable OpenPDF certificate; dynamic cryptographic verification.</a:t>
            </a:r>
            <a:endParaRPr 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771" y="0"/>
            <a:ext cx="30479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ENTERPRISE GRADE FOUNDATION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2196"/>
            <a:ext cx="11124922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Modular architecture keeps the operating loop auditable and extensible.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3387" y="1946870"/>
            <a:ext cx="3505112" cy="3744218"/>
          </a:xfrm>
          <a:prstGeom prst="rect">
            <a:avLst/>
          </a:prstGeom>
          <a:solidFill>
            <a:srgbClr val="2D2F28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178645"/>
            <a:ext cx="3047924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Frontend · SPA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61981" y="2747732"/>
            <a:ext cx="3047924" cy="2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React 19 &amp; Vite · lightning sub-second HMR; Tailwind CSS · responsive modern UI; Lucide React icon system; Axios · JWT request/response interceptors; Canvas Confetti · celebration micro-interactions.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291" y="1946870"/>
            <a:ext cx="3505112" cy="3744218"/>
          </a:xfrm>
          <a:prstGeom prst="rect">
            <a:avLst/>
          </a:prstGeom>
          <a:solidFill>
            <a:srgbClr val="2D2F28"/>
          </a:solidFill>
          <a:ln/>
        </p:spPr>
      </p:sp>
      <p:sp>
        <p:nvSpPr>
          <p:cNvPr id="8" name="Text 6"/>
          <p:cNvSpPr/>
          <p:nvPr/>
        </p:nvSpPr>
        <p:spPr>
          <a:xfrm>
            <a:off x="4571886" y="2178645"/>
            <a:ext cx="3047924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Backend · REST API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1886" y="2747732"/>
            <a:ext cx="3047924" cy="2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Spring Boot 3.3.5 · Java 21 (LTS); Spring Security 6 · stateless JWT authentication; Spring Data JPA · Hibernate ORM; OpenPDF engine · dynamic 80G Tax Certificates; SpringDoc OpenAPI 3.0 · Swagger UI.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53196" y="1946870"/>
            <a:ext cx="3505112" cy="3744218"/>
          </a:xfrm>
          <a:prstGeom prst="rect">
            <a:avLst/>
          </a:prstGeom>
          <a:solidFill>
            <a:srgbClr val="2D2F28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0" y="2178645"/>
            <a:ext cx="3047924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Persistence &amp; Cloud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381790" y="2747732"/>
            <a:ext cx="3047924" cy="2413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Dual Profiles · In-Memory H2 for dev, PostgreSQL for prod; Derby SQL Relational Driver support; stateless session management; CORS security · granular origins; clean separation · Model, DTO, Repo &amp; Service.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11547"/>
            <a:ext cx="838179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ROLE-BASED GOVERNANCE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582612"/>
            <a:ext cx="784840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Each participant gets a clear workflow, with trust visible at every handoff.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3387" y="1564084"/>
            <a:ext cx="784840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DONOR PORTAL · AARAV SHARMA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33387" y="1873250"/>
            <a:ext cx="7848404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Doorstep pickup calendar · interactive CO₂ &amp; water impact calculator · reschedule and cancellation controls · official Section 80G Tax PDF.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3387" y="2873573"/>
            <a:ext cx="784840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BENEFICIARY STORE · PRIYA KUMARI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3387" y="3182739"/>
            <a:ext cx="7848404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150 seasonal monthly NGO credits · demographic and size filters · hospital-grade sanitization logs · zero-cost checkout and real-time delivery tracking.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387" y="4183062"/>
            <a:ext cx="784840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LOGISTICS FLEET · RAMESH KUMAR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3387" y="4492228"/>
            <a:ext cx="7848404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Pincode cluster route optimization · doorstep bag count and weight validation · seal barcode scanning · manifest transitions to hub arrival.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387" y="5492551"/>
            <a:ext cx="784840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WAREHOUSE QC ADMIN · NEHA · MANAGER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3387" y="5801717"/>
            <a:ext cx="7848404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Scientific 3-stage QC grading · seasonal credit quota allocations (+50/+100) · order fulfillment dispatch · real-time ESG circularity audit and CSV export.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9969" y="0"/>
            <a:ext cx="2971726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33387" y="2631877"/>
            <a:ext cx="7848404" cy="12700"/>
          </a:xfrm>
          <a:prstGeom prst="rect">
            <a:avLst/>
          </a:prstGeom>
          <a:solidFill>
            <a:srgbClr val="404238"/>
          </a:solidFill>
          <a:ln/>
        </p:spPr>
      </p:sp>
      <p:sp>
        <p:nvSpPr>
          <p:cNvPr id="14" name="Shape 11"/>
          <p:cNvSpPr/>
          <p:nvPr/>
        </p:nvSpPr>
        <p:spPr>
          <a:xfrm>
            <a:off x="533387" y="3941366"/>
            <a:ext cx="7848404" cy="12700"/>
          </a:xfrm>
          <a:prstGeom prst="rect">
            <a:avLst/>
          </a:prstGeom>
          <a:solidFill>
            <a:srgbClr val="404238"/>
          </a:solidFill>
          <a:ln/>
        </p:spPr>
      </p:sp>
      <p:sp>
        <p:nvSpPr>
          <p:cNvPr id="15" name="Shape 12"/>
          <p:cNvSpPr/>
          <p:nvPr/>
        </p:nvSpPr>
        <p:spPr>
          <a:xfrm>
            <a:off x="533387" y="5250855"/>
            <a:ext cx="7848404" cy="12700"/>
          </a:xfrm>
          <a:prstGeom prst="rect">
            <a:avLst/>
          </a:prstGeom>
          <a:solidFill>
            <a:srgbClr val="40423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CIRCULAR QUALITY CONTROL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2196"/>
            <a:ext cx="11124922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Scientific sorting protects dignity and keeps more material in circulation.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3387" y="1946870"/>
            <a:ext cx="3708307" cy="4377730"/>
          </a:xfrm>
          <a:custGeom>
            <a:avLst/>
            <a:gdLst/>
            <a:ahLst/>
            <a:cxnLst/>
            <a:rect l="l" t="t" r="r" b="b"/>
            <a:pathLst>
              <a:path w="3708307" h="4377730">
                <a:moveTo>
                  <a:pt x="9525" y="0"/>
                </a:moveTo>
                <a:lnTo>
                  <a:pt x="3708307" y="0"/>
                </a:lnTo>
                <a:lnTo>
                  <a:pt x="3708307" y="4377730"/>
                </a:lnTo>
                <a:lnTo>
                  <a:pt x="9525" y="4377730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1F2D1B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178645"/>
            <a:ext cx="3251119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Grade 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61981" y="2719665"/>
            <a:ext cx="325111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Prime condition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1981" y="3205361"/>
            <a:ext cx="3251119" cy="2848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Online Beneficiary Store Catalog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Gently used or like-new apparel. Zero tears, missing buttons, or stains. 3-step UV-C medical sterilization and fabric press. Published instantly for zero-cost credit claims.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41694" y="1946870"/>
            <a:ext cx="3708307" cy="4377730"/>
          </a:xfrm>
          <a:prstGeom prst="rect">
            <a:avLst/>
          </a:prstGeom>
          <a:solidFill>
            <a:srgbClr val="1F2D1B"/>
          </a:solidFill>
          <a:ln/>
        </p:spPr>
      </p:sp>
      <p:sp>
        <p:nvSpPr>
          <p:cNvPr id="9" name="Text 7"/>
          <p:cNvSpPr/>
          <p:nvPr/>
        </p:nvSpPr>
        <p:spPr>
          <a:xfrm>
            <a:off x="4470288" y="2178645"/>
            <a:ext cx="3251119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Grade B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470288" y="2719665"/>
            <a:ext cx="325111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Minor wear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70288" y="3205361"/>
            <a:ext cx="3251119" cy="2848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Bulk NGO Relief &amp; Slum Drives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Structurally sound with cosmetic fading. Minor mending by NGO refurbishment crew. Weather-proof 25kg bulk bales dispatched to flood and winter disaster relief centers.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50001" y="1946870"/>
            <a:ext cx="3708307" cy="4377730"/>
          </a:xfrm>
          <a:custGeom>
            <a:avLst/>
            <a:gdLst/>
            <a:ahLst/>
            <a:cxnLst/>
            <a:rect l="l" t="t" r="r" b="b"/>
            <a:pathLst>
              <a:path w="3708307" h="4377730">
                <a:moveTo>
                  <a:pt x="0" y="0"/>
                </a:moveTo>
                <a:lnTo>
                  <a:pt x="3698782" y="0"/>
                </a:lnTo>
                <a:arcTo hR="9525" wR="9525" stAng="16200000" swAng="5400000"/>
                <a:lnTo>
                  <a:pt x="3708307" y="4368205"/>
                </a:lnTo>
                <a:arcTo hR="9525" wR="9525" stAng="0" swAng="5400000"/>
                <a:lnTo>
                  <a:pt x="0" y="4377730"/>
                </a:lnTo>
                <a:lnTo>
                  <a:pt x="0" y="0"/>
                </a:lnTo>
                <a:close/>
              </a:path>
            </a:pathLst>
          </a:custGeom>
          <a:solidFill>
            <a:srgbClr val="1F2D1B"/>
          </a:solidFill>
          <a:ln/>
        </p:spPr>
      </p:sp>
      <p:sp>
        <p:nvSpPr>
          <p:cNvPr id="13" name="Text 11"/>
          <p:cNvSpPr/>
          <p:nvPr/>
        </p:nvSpPr>
        <p:spPr>
          <a:xfrm>
            <a:off x="8178595" y="2178645"/>
            <a:ext cx="3251119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Downcycle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178595" y="2719665"/>
            <a:ext cx="325111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Frayed / unusable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78595" y="3205361"/>
            <a:ext cx="3251119" cy="2547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Industrial Fiber Shredding Partners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Unwearable garments, scraps, and torn knits sorted by synthetic versus organic cotton fibers, then downcycled into automotive sound insulation and carpet padding.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35344" y="1946870"/>
            <a:ext cx="12700" cy="437773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943651" y="1946870"/>
            <a:ext cx="12700" cy="437773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54"/>
            <a:ext cx="11658308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63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MEASURABLE COMPLIANCE &amp; SCIENTIFIC CITATIONS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3387" y="718199"/>
            <a:ext cx="1112492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200" b="1" spc="-4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Impact is calculated per verified garment, then made legally useful.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3581400"/>
            <a:ext cx="5196750" cy="3276600"/>
          </a:xfrm>
          <a:prstGeom prst="rect">
            <a:avLst/>
          </a:prstGeom>
          <a:solidFill>
            <a:srgbClr val="2D2F28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4116459"/>
            <a:ext cx="4129976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Indian government impact metrics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3387" y="4476346"/>
            <a:ext cx="4129976" cy="69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&gt;70%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of total textile waste recovered · </a:t>
            </a:r>
            <a:pPr algn="l" indent="0" marL="0">
              <a:lnSpc>
                <a:spcPct val="9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~95%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of pre-consumer textile waste recovered · </a:t>
            </a:r>
            <a:pPr algn="l" indent="0" marL="0">
              <a:lnSpc>
                <a:spcPct val="9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USD 3.5 billion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recycling market projected by 2030 · </a:t>
            </a:r>
            <a:pPr algn="l" indent="0" marL="0">
              <a:lnSpc>
                <a:spcPct val="9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~1 lakh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green jobs (Ministry of Textiles report, PIB)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3387" y="5273421"/>
            <a:ext cx="4129976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8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Sources: PIB, Ministry of Textiles report on textile recycling · PIB Rajya Sabha response on textile-waste management · Ministry of Textiles Annual Report 2023-24.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501542" y="3581400"/>
            <a:ext cx="5196750" cy="3276600"/>
          </a:xfrm>
          <a:prstGeom prst="rect">
            <a:avLst/>
          </a:prstGeom>
          <a:solidFill>
            <a:srgbClr val="2D2F28"/>
          </a:solidFill>
          <a:ln/>
        </p:spPr>
      </p:sp>
      <p:sp>
        <p:nvSpPr>
          <p:cNvPr id="9" name="Text 7"/>
          <p:cNvSpPr/>
          <p:nvPr/>
        </p:nvSpPr>
        <p:spPr>
          <a:xfrm>
            <a:off x="6034929" y="4116459"/>
            <a:ext cx="4129976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Section 80G engine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34929" y="4476346"/>
            <a:ext cx="4129976" cy="2458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Automated OpenPDF streaming: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high-resolution, print-ready branded certificates on pickup completion; statutory basis: OpenPDF Java Engine. </a:t>
            </a:r>
            <a:pPr algn="l" indent="0" marL="0">
              <a:lnSpc>
                <a:spcPct val="9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Statutory NGO exemption registration: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Reg # NGO-80G/CSR/2026/88421 · Tax ID AAATE1234F-80G-01; statutory basis: Income Tax Act 1961, Section 80G (Govt. of India). </a:t>
            </a:r>
            <a:pPr algn="l" indent="0" marL="0">
              <a:lnSpc>
                <a:spcPct val="9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Public cryptographic registry: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instant QR/REST validation for income tax authorities at 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1C1D1F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/api/invoices/verify/{number}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; statutory basis: EcoThread Cryptographic Verification Protocol. </a:t>
            </a:r>
            <a:pPr algn="l" indent="0" marL="0">
              <a:lnSpc>
                <a:spcPct val="9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Corporate CSR ESG audit CSV:</a:t>
            </a:r>
            <a:pPr algn="l" indent="0" marL="0">
              <a:lnSpc>
                <a:spcPct val="9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audited water, carbon, and garment data downloadable for annual CSR filings; statutory basis: Ministry of Corporate Affairs (MCA) CSR Rules 2014.</a:t>
            </a:r>
            <a:endParaRPr lang="en-US" sz="1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85" y="3581400"/>
            <a:ext cx="118871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WHY ECOTHREAD WINS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2196"/>
            <a:ext cx="11124922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EcoThread turns four broken handoffs into one trusted platform.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946870"/>
          <a:ext cx="11124922" cy="914400"/>
        </p:xfrm>
        <a:graphic>
          <a:graphicData uri="http://schemas.openxmlformats.org/drawingml/2006/table">
            <a:tbl>
              <a:tblPr/>
              <a:tblGrid>
                <a:gridCol w="2447467"/>
                <a:gridCol w="3782422"/>
                <a:gridCol w="4895033"/>
              </a:tblGrid>
              <a:tr h="49717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1E5CD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Dimension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1E5CD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Legacy model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EcoThread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1B"/>
                    </a:solidFill>
                  </a:tcPr>
                </a:tc>
              </a:tr>
              <a:tr h="798889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Beneficiary experience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Chaotic bins, undignified handouts, size mismatch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Amazon-style store, seasonal credit budget, dignity of choice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1B"/>
                    </a:solidFill>
                  </a:tcPr>
                </a:tc>
              </a:tr>
              <a:tr h="798889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Hygiene &amp; quality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Unsanitized garments mixed with damaged rags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3-tier hospital-grade UV-C sterilization, size classification, digital sanitization log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1B"/>
                    </a:solidFill>
                  </a:tcPr>
                </a:tc>
              </a:tr>
              <a:tr h="798889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Donor incentive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Manual paper receipts, zero proof of impact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Automated Section 80G PDF plus live water and carbon dashboard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1B"/>
                    </a:solidFill>
                  </a:tcPr>
                </a:tc>
              </a:tr>
              <a:tr h="78619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Logistics fleet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Ad-hoc collections with high fuel waste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Pincode cluster scheduling, doorstep weight verification, seal tracking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FUTURE HORIZONS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2196"/>
            <a:ext cx="11124922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The roadmap compounds platform control into enterprise-scale circularity.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3387" y="1946870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3387" y="2266950"/>
            <a:ext cx="3505112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2427565"/>
            <a:ext cx="35051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Phase 1 · Completed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3387" y="2884686"/>
            <a:ext cx="35051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Core Platform &amp; Compliance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33387" y="3860173"/>
            <a:ext cx="3505112" cy="1810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Doorstep pickup scheduler and cancellation · Amazon-style beneficiary store · logistics route dispatch and verification · OpenPDF Section 80G tax engine.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43291" y="1946870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291" y="2266950"/>
            <a:ext cx="3505112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1" name="Text 9"/>
          <p:cNvSpPr/>
          <p:nvPr/>
        </p:nvSpPr>
        <p:spPr>
          <a:xfrm>
            <a:off x="4343291" y="2427565"/>
            <a:ext cx="35051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Phase 2 · Next Quarter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43291" y="2884686"/>
            <a:ext cx="35051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Computer Vision &amp; AI Grading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343291" y="3860173"/>
            <a:ext cx="3505112" cy="1810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Mobile camera inspection for tears and stains · fabric composition recognition · dynamic route traveling salesperson algorithm · native PWA driver manifest caching.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53196" y="1946870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53196" y="2266950"/>
            <a:ext cx="3505112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6" name="Text 14"/>
          <p:cNvSpPr/>
          <p:nvPr/>
        </p:nvSpPr>
        <p:spPr>
          <a:xfrm>
            <a:off x="8153196" y="2427565"/>
            <a:ext cx="35051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Phase 3 · Enterprise Scale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53196" y="2884686"/>
            <a:ext cx="35051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Nationwide Brand Partnerships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153196" y="3860173"/>
            <a:ext cx="3505112" cy="1508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Retail drop-off QR integration · direct CSR impact dashboards · blockchain tokenized garment traceability · textile mill fiber downcycling B2B supply.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689"/>
            <a:ext cx="11658308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8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RESEARCH CREDIBILITY &amp; BIBLIOGRAPHY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3387" y="788573"/>
            <a:ext cx="11124922" cy="804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50" b="1" spc="-57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Institutional sources anchor the metrics, formulas, and compliance layer.</a:t>
            </a:r>
            <a:endParaRPr lang="en-US" sz="2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749524"/>
          <a:ext cx="11124922" cy="914400"/>
        </p:xfrm>
        <a:graphic>
          <a:graphicData uri="http://schemas.openxmlformats.org/drawingml/2006/table">
            <a:tbl>
              <a:tblPr/>
              <a:tblGrid>
                <a:gridCol w="3114895"/>
                <a:gridCol w="8010027"/>
              </a:tblGrid>
              <a:tr h="41899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E1E5CD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Institutional source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E1E5CD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Role in EcoThread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3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Ministry of Textiles, Government of India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Textile waste and recycling report, Press Information Bureau (PIB)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Source for 70.73 lakh tonnes annual textile waste, the 42% pre-consumer and 58% post-consumer split, over 70% total waste recovery, around 95% pre-consumer recovery, and the USD 3.5 billion recycling market by 2030 with about one lakh green jobs.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122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PIB, Rajya Sabha response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Textile-waste management and government initiatives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Policy and recovery context for the textile-waste figures and government initiatives supporting the recycling pathway.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107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Ministry of Textiles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Annual Report 2023-24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Sector context for Indian textile production, waste, and recovery framing.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822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Ministry of Finance &amp; Ministry of Corporate Affairs, Govt of India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Income Tax Act 1961, Section 80G &amp; Companies Act, CSR Rules 2014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2C4B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Statutory basis for non-cash clothing in-kind donation valuation, 80G tax certificates, and mandatory ESG audit trails.</a:t>
                      </a:r>
                      <a:endParaRPr lang="en-US" sz="16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51520" marR="151520" marT="80810" marB="8081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2026-10-28T07:08:47Z</dcterms:created>
  <dcterms:modified xsi:type="dcterms:W3CDTF">2026-10-28T07:08:47Z</dcterms:modified>
</cp:coreProperties>
</file>